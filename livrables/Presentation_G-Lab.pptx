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991295" y="0"/>
            <a:ext cx="3200400" cy="73152"/>
          </a:xfrm>
          <a:prstGeom prst="rect">
            <a:avLst/>
          </a:prstGeom>
          <a:solidFill>
            <a:srgbClr val="48CA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463040"/>
            <a:ext cx="91440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5400" b="1" i="0">
                <a:solidFill>
                  <a:srgbClr val="FFFFFF"/>
                </a:solidFill>
                <a:latin typeface="Calibri"/>
              </a:rPr>
              <a:t>G-Lab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468880"/>
            <a:ext cx="9144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0" i="0">
                <a:solidFill>
                  <a:srgbClr val="48CAE4"/>
                </a:solidFill>
                <a:latin typeface="Calibri"/>
              </a:rPr>
              <a:t>Gestion du parc de matériel</a:t>
            </a:r>
            <a:br/>
            <a:r>
              <a:t>d'un laboratoire technologique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3429000"/>
            <a:ext cx="2286000" cy="36576"/>
          </a:xfrm>
          <a:prstGeom prst="rect">
            <a:avLst/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3657600"/>
            <a:ext cx="73152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1" i="0">
                <a:solidFill>
                  <a:srgbClr val="FFFFFF"/>
                </a:solidFill>
                <a:latin typeface="Calibri"/>
              </a:rPr>
              <a:t>Réalisé par  Oussama Ennadafy</a:t>
            </a:r>
          </a:p>
          <a:p>
            <a:pPr>
              <a:spcAft>
                <a:spcPts val="1000"/>
              </a:spcAft>
            </a:pPr>
            <a:r>
              <a:rPr sz="1500" b="0" i="0">
                <a:solidFill>
                  <a:srgbClr val="94A3B8"/>
                </a:solidFill>
                <a:latin typeface="Calibri"/>
              </a:rPr>
              <a:t>Projet Java — Programmation Orientée Objet</a:t>
            </a:r>
          </a:p>
          <a:p>
            <a:pPr>
              <a:spcAft>
                <a:spcPts val="1000"/>
              </a:spcAft>
            </a:pPr>
            <a:r>
              <a:rPr sz="1400" b="0" i="0">
                <a:solidFill>
                  <a:srgbClr val="94A3B8"/>
                </a:solidFill>
                <a:latin typeface="Calibri"/>
              </a:rPr>
              <a:t>Juillet 2026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265615" y="5486400"/>
            <a:ext cx="2377440" cy="822960"/>
          </a:xfrm>
          <a:prstGeom prst="round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57055" y="5596128"/>
            <a:ext cx="21945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 i="0">
                <a:solidFill>
                  <a:srgbClr val="48CAE4"/>
                </a:solidFill>
                <a:latin typeface="Calibri"/>
              </a:rPr>
              <a:t>Java 17  ·  Swing  ·  SQLite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45720"/>
          </a:xfrm>
          <a:prstGeom prst="rect">
            <a:avLst/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</a:rPr>
              <a:t>Plan de la présentation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446520"/>
            <a:ext cx="12191695" cy="36576"/>
          </a:xfrm>
          <a:prstGeom prst="rect">
            <a:avLst/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94A3B8"/>
                </a:solidFill>
                <a:latin typeface="Calibri"/>
              </a:rPr>
              <a:t>Oussama Ennadafy  ·  G-Lab  ·  Juillet 2026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188720"/>
            <a:ext cx="502920" cy="502920"/>
          </a:xfrm>
          <a:prstGeom prst="roundRect">
            <a:avLst/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261872"/>
            <a:ext cx="411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1280160"/>
            <a:ext cx="4297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0" i="0">
                <a:solidFill>
                  <a:srgbClr val="1E293B"/>
                </a:solidFill>
                <a:latin typeface="Calibri"/>
              </a:rPr>
              <a:t>Contexte &amp; Problématique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43600" y="1188720"/>
            <a:ext cx="502920" cy="502920"/>
          </a:xfrm>
          <a:prstGeom prst="roundRect">
            <a:avLst/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89320" y="1261872"/>
            <a:ext cx="411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1280160"/>
            <a:ext cx="4297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0" i="0">
                <a:solidFill>
                  <a:srgbClr val="1E293B"/>
                </a:solidFill>
                <a:latin typeface="Calibri"/>
              </a:rPr>
              <a:t>Objectifs du projet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1847088"/>
            <a:ext cx="502920" cy="502920"/>
          </a:xfrm>
          <a:prstGeom prst="roundRect">
            <a:avLst/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" y="1920240"/>
            <a:ext cx="411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8720" y="1938528"/>
            <a:ext cx="4297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0" i="0">
                <a:solidFill>
                  <a:srgbClr val="1E293B"/>
                </a:solidFill>
                <a:latin typeface="Calibri"/>
              </a:rPr>
              <a:t>Technologies &amp; Architecture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43600" y="1847088"/>
            <a:ext cx="502920" cy="502920"/>
          </a:xfrm>
          <a:prstGeom prst="roundRect">
            <a:avLst/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89320" y="1920240"/>
            <a:ext cx="411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0" y="1938528"/>
            <a:ext cx="4297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0" i="0">
                <a:solidFill>
                  <a:srgbClr val="1E293B"/>
                </a:solidFill>
                <a:latin typeface="Calibri"/>
              </a:rPr>
              <a:t>Conception Orientée Objet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2505456"/>
            <a:ext cx="502920" cy="502920"/>
          </a:xfrm>
          <a:prstGeom prst="roundRect">
            <a:avLst/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4360" y="2578608"/>
            <a:ext cx="411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05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88720" y="2596896"/>
            <a:ext cx="4297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0" i="0">
                <a:solidFill>
                  <a:srgbClr val="1E293B"/>
                </a:solidFill>
                <a:latin typeface="Calibri"/>
              </a:rPr>
              <a:t>Architecture MVC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943600" y="2505456"/>
            <a:ext cx="502920" cy="502920"/>
          </a:xfrm>
          <a:prstGeom prst="roundRect">
            <a:avLst/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989320" y="2578608"/>
            <a:ext cx="411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06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0" y="2596896"/>
            <a:ext cx="4297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0" i="0">
                <a:solidFill>
                  <a:srgbClr val="1E293B"/>
                </a:solidFill>
                <a:latin typeface="Calibri"/>
              </a:rPr>
              <a:t>Fonctionnalités &amp; Démonstration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8640" y="3163824"/>
            <a:ext cx="502920" cy="502920"/>
          </a:xfrm>
          <a:prstGeom prst="roundRect">
            <a:avLst/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94360" y="3236976"/>
            <a:ext cx="411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07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88720" y="3255264"/>
            <a:ext cx="4297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0" i="0">
                <a:solidFill>
                  <a:srgbClr val="1E293B"/>
                </a:solidFill>
                <a:latin typeface="Calibri"/>
              </a:rPr>
              <a:t>Structure du code &amp; Persistance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943600" y="3163824"/>
            <a:ext cx="502920" cy="502920"/>
          </a:xfrm>
          <a:prstGeom prst="roundRect">
            <a:avLst/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989320" y="3236976"/>
            <a:ext cx="411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08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83680" y="3255264"/>
            <a:ext cx="4297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0" i="0">
                <a:solidFill>
                  <a:srgbClr val="1E293B"/>
                </a:solidFill>
                <a:latin typeface="Calibri"/>
              </a:rPr>
              <a:t>Conclusion &amp; Perspectives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45720"/>
          </a:xfrm>
          <a:prstGeom prst="rect">
            <a:avLst/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</a:rPr>
              <a:t>Contexte &amp; Problématique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446520"/>
            <a:ext cx="12191695" cy="36576"/>
          </a:xfrm>
          <a:prstGeom prst="rect">
            <a:avLst/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94A3B8"/>
                </a:solidFill>
                <a:latin typeface="Calibri"/>
              </a:rPr>
              <a:t>Oussama Ennadafy  ·  G-Lab  ·  Juillet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143000"/>
            <a:ext cx="11094415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i="0" b="0">
                <a:solidFill>
                  <a:srgbClr val="475569"/>
                </a:solidFill>
                <a:latin typeface="Calibri"/>
              </a:rPr>
              <a:t>●  Laboratoire universitaire avec un parc hétérogène de matériel technologique</a:t>
            </a:r>
          </a:p>
          <a:p>
            <a:pPr>
              <a:spcAft>
                <a:spcPts val="1000"/>
              </a:spcAft>
            </a:pPr>
            <a:r>
              <a:rPr sz="1600" i="0" b="0">
                <a:solidFill>
                  <a:srgbClr val="475569"/>
                </a:solidFill>
                <a:latin typeface="Calibri"/>
              </a:rPr>
              <a:t>●  Automates industriels, drones embarqués et documentation technique à gérer</a:t>
            </a:r>
          </a:p>
          <a:p>
            <a:pPr>
              <a:spcAft>
                <a:spcPts val="1000"/>
              </a:spcAft>
            </a:pPr>
            <a:r>
              <a:rPr sz="1600" i="0" b="0">
                <a:solidFill>
                  <a:srgbClr val="475569"/>
                </a:solidFill>
                <a:latin typeface="Calibri"/>
              </a:rPr>
              <a:t>●  La gestion manuelle du stock entraîne des erreurs et une perte de temps</a:t>
            </a:r>
          </a:p>
          <a:p>
            <a:pPr>
              <a:spcAft>
                <a:spcPts val="1000"/>
              </a:spcAft>
            </a:pPr>
            <a:r>
              <a:rPr sz="1600" i="0" b="0">
                <a:solidFill>
                  <a:srgbClr val="475569"/>
                </a:solidFill>
                <a:latin typeface="Calibri"/>
              </a:rPr>
              <a:t>●  Besoin d'une application centralisée, persistante et ergonomique</a:t>
            </a:r>
          </a:p>
          <a:p>
            <a:pPr>
              <a:spcAft>
                <a:spcPts val="1000"/>
              </a:spcAft>
            </a:pPr>
            <a:r>
              <a:rPr sz="1600" i="0" b="0">
                <a:solidFill>
                  <a:srgbClr val="475569"/>
                </a:solidFill>
                <a:latin typeface="Calibri"/>
              </a:rPr>
              <a:t>●  Solution développée : G-Lab — application Java desktop avec interface Swing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45720"/>
          </a:xfrm>
          <a:prstGeom prst="rect">
            <a:avLst/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</a:rPr>
              <a:t>Objectifs du projet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446520"/>
            <a:ext cx="12191695" cy="36576"/>
          </a:xfrm>
          <a:prstGeom prst="rect">
            <a:avLst/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94A3B8"/>
                </a:solidFill>
                <a:latin typeface="Calibri"/>
              </a:rPr>
              <a:t>Oussama Ennadafy  ·  G-Lab  ·  Juillet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143000"/>
            <a:ext cx="11094415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i="0" b="0">
                <a:solidFill>
                  <a:srgbClr val="475569"/>
                </a:solidFill>
                <a:latin typeface="Calibri"/>
              </a:rPr>
              <a:t>●  Modéliser les ressources par une hiérarchie de classes orientée objet</a:t>
            </a:r>
          </a:p>
          <a:p>
            <a:pPr>
              <a:spcAft>
                <a:spcPts val="1000"/>
              </a:spcAft>
            </a:pPr>
            <a:r>
              <a:rPr sz="1600" i="0" b="0">
                <a:solidFill>
                  <a:srgbClr val="475569"/>
                </a:solidFill>
                <a:latin typeface="Calibri"/>
              </a:rPr>
              <a:t>●  Appliquer les 4 piliers POO : abstraction, encapsulation, héritage, polymorphisme</a:t>
            </a:r>
          </a:p>
          <a:p>
            <a:pPr>
              <a:spcAft>
                <a:spcPts val="1000"/>
              </a:spcAft>
            </a:pPr>
            <a:r>
              <a:rPr sz="1600" i="0" b="0">
                <a:solidFill>
                  <a:srgbClr val="475569"/>
                </a:solidFill>
                <a:latin typeface="Calibri"/>
              </a:rPr>
              <a:t>●  Implémenter une architecture MVC claire et maintenable</a:t>
            </a:r>
          </a:p>
          <a:p>
            <a:pPr>
              <a:spcAft>
                <a:spcPts val="1000"/>
              </a:spcAft>
            </a:pPr>
            <a:r>
              <a:rPr sz="1600" i="0" b="0">
                <a:solidFill>
                  <a:srgbClr val="475569"/>
                </a:solidFill>
                <a:latin typeface="Calibri"/>
              </a:rPr>
              <a:t>●  Valider les saisies utilisateur avec des messages d'erreur explicites</a:t>
            </a:r>
          </a:p>
          <a:p>
            <a:pPr>
              <a:spcAft>
                <a:spcPts val="1000"/>
              </a:spcAft>
            </a:pPr>
            <a:r>
              <a:rPr sz="1600" i="0" b="0">
                <a:solidFill>
                  <a:srgbClr val="475569"/>
                </a:solidFill>
                <a:latin typeface="Calibri"/>
              </a:rPr>
              <a:t>●  Assurer la persistance des données via JDBC et SQLite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45720"/>
          </a:xfrm>
          <a:prstGeom prst="rect">
            <a:avLst/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</a:rPr>
              <a:t>Technologies &amp; Outils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446520"/>
            <a:ext cx="12191695" cy="36576"/>
          </a:xfrm>
          <a:prstGeom prst="rect">
            <a:avLst/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94A3B8"/>
                </a:solidFill>
                <a:latin typeface="Calibri"/>
              </a:rPr>
              <a:t>Oussama Ennadafy  ·  G-Lab  ·  Juillet 2026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097280"/>
            <a:ext cx="3515258" cy="50292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097280"/>
            <a:ext cx="3515258" cy="50292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1188720"/>
            <a:ext cx="3240938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Backend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1737360"/>
            <a:ext cx="3149498" cy="4251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 b="0" i="0">
                <a:solidFill>
                  <a:srgbClr val="475569"/>
                </a:solidFill>
                <a:latin typeface="Calibri"/>
              </a:rPr>
              <a:t>▸  Java 17 (LTS)</a:t>
            </a:r>
          </a:p>
          <a:p>
            <a:pPr>
              <a:spcAft>
                <a:spcPts val="800"/>
              </a:spcAft>
            </a:pPr>
            <a:r>
              <a:rPr sz="1300" b="0" i="0">
                <a:solidFill>
                  <a:srgbClr val="475569"/>
                </a:solidFill>
                <a:latin typeface="Calibri"/>
              </a:rPr>
              <a:t>▸  JDBC + SQLite 3.45</a:t>
            </a:r>
          </a:p>
          <a:p>
            <a:pPr>
              <a:spcAft>
                <a:spcPts val="800"/>
              </a:spcAft>
            </a:pPr>
            <a:r>
              <a:rPr sz="1300" b="0" i="0">
                <a:solidFill>
                  <a:srgbClr val="475569"/>
                </a:solidFill>
                <a:latin typeface="Calibri"/>
              </a:rPr>
              <a:t>▸  Maven — build &amp; dépendances</a:t>
            </a:r>
          </a:p>
          <a:p>
            <a:pPr>
              <a:spcAft>
                <a:spcPts val="800"/>
              </a:spcAft>
            </a:pPr>
            <a:r>
              <a:rPr sz="1300" b="0" i="0">
                <a:solidFill>
                  <a:srgbClr val="475569"/>
                </a:solidFill>
                <a:latin typeface="Calibri"/>
              </a:rPr>
              <a:t>▸  SLF4J — journalisation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38218" y="1097280"/>
            <a:ext cx="3515258" cy="50292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38218" y="1097280"/>
            <a:ext cx="3515258" cy="502920"/>
          </a:xfrm>
          <a:prstGeom prst="rect">
            <a:avLst/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75378" y="1188720"/>
            <a:ext cx="3240938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Interface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21098" y="1737360"/>
            <a:ext cx="3149498" cy="4251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 b="0" i="0">
                <a:solidFill>
                  <a:srgbClr val="475569"/>
                </a:solidFill>
                <a:latin typeface="Calibri"/>
              </a:rPr>
              <a:t>▸  Swing — JTable, JFrame</a:t>
            </a:r>
          </a:p>
          <a:p>
            <a:pPr>
              <a:spcAft>
                <a:spcPts val="800"/>
              </a:spcAft>
            </a:pPr>
            <a:r>
              <a:rPr sz="1300" b="0" i="0">
                <a:solidFill>
                  <a:srgbClr val="475569"/>
                </a:solidFill>
                <a:latin typeface="Calibri"/>
              </a:rPr>
              <a:t>▸  JOptionPane — dialogues</a:t>
            </a:r>
          </a:p>
          <a:p>
            <a:pPr>
              <a:spcAft>
                <a:spcPts val="800"/>
              </a:spcAft>
            </a:pPr>
            <a:r>
              <a:rPr sz="1300" b="0" i="0">
                <a:solidFill>
                  <a:srgbClr val="475569"/>
                </a:solidFill>
                <a:latin typeface="Calibri"/>
              </a:rPr>
              <a:t>▸  Formulaire adaptatif</a:t>
            </a:r>
          </a:p>
          <a:p>
            <a:pPr>
              <a:spcAft>
                <a:spcPts val="800"/>
              </a:spcAft>
            </a:pPr>
            <a:r>
              <a:rPr sz="1300" b="0" i="0">
                <a:solidFill>
                  <a:srgbClr val="475569"/>
                </a:solidFill>
                <a:latin typeface="Calibri"/>
              </a:rPr>
              <a:t>▸  Filtrage temps réel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27796" y="1097280"/>
            <a:ext cx="3515258" cy="50292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127796" y="1097280"/>
            <a:ext cx="3515258" cy="502920"/>
          </a:xfrm>
          <a:prstGeom prst="rect">
            <a:avLst/>
          </a:prstGeom>
          <a:solidFill>
            <a:srgbClr val="0609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64956" y="1188720"/>
            <a:ext cx="3240938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Architecture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10676" y="1737360"/>
            <a:ext cx="3149498" cy="4251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 b="0" i="0">
                <a:solidFill>
                  <a:srgbClr val="475569"/>
                </a:solidFill>
                <a:latin typeface="Calibri"/>
              </a:rPr>
              <a:t>▸  Pattern MVC</a:t>
            </a:r>
          </a:p>
          <a:p>
            <a:pPr>
              <a:spcAft>
                <a:spcPts val="800"/>
              </a:spcAft>
            </a:pPr>
            <a:r>
              <a:rPr sz="1300" b="0" i="0">
                <a:solidFill>
                  <a:srgbClr val="475569"/>
                </a:solidFill>
                <a:latin typeface="Calibri"/>
              </a:rPr>
              <a:t>▸  Pattern DAO</a:t>
            </a:r>
          </a:p>
          <a:p>
            <a:pPr>
              <a:spcAft>
                <a:spcPts val="800"/>
              </a:spcAft>
            </a:pPr>
            <a:r>
              <a:rPr sz="1300" b="0" i="0">
                <a:solidFill>
                  <a:srgbClr val="475569"/>
                </a:solidFill>
                <a:latin typeface="Calibri"/>
              </a:rPr>
              <a:t>▸  Try-with-resources</a:t>
            </a:r>
          </a:p>
          <a:p>
            <a:pPr>
              <a:spcAft>
                <a:spcPts val="800"/>
              </a:spcAft>
            </a:pPr>
            <a:r>
              <a:rPr sz="1300" b="0" i="0">
                <a:solidFill>
                  <a:srgbClr val="475569"/>
                </a:solidFill>
                <a:latin typeface="Calibri"/>
              </a:rPr>
              <a:t>▸  PreparedStatement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45720"/>
          </a:xfrm>
          <a:prstGeom prst="rect">
            <a:avLst/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</a:rPr>
              <a:t>Conception Orientée Objet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21792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 i="0">
                <a:solidFill>
                  <a:srgbClr val="48CAE4"/>
                </a:solidFill>
                <a:latin typeface="Calibri"/>
              </a:rPr>
              <a:t>Hiérarchie des classes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446520"/>
            <a:ext cx="12191695" cy="36576"/>
          </a:xfrm>
          <a:prstGeom prst="rect">
            <a:avLst/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94A3B8"/>
                </a:solidFill>
                <a:latin typeface="Calibri"/>
              </a:rPr>
              <a:t>Oussama Ennadafy  ·  G-Lab  ·  Juillet 2026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809847" y="1188720"/>
            <a:ext cx="4572000" cy="822960"/>
          </a:xfrm>
          <a:prstGeom prst="round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901287" y="1298448"/>
            <a:ext cx="4389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«abstract» Ressource</a:t>
            </a:r>
          </a:p>
          <a:p>
            <a:pPr algn="ctr"/>
            <a:r>
              <a:rPr sz="1000" b="0" i="0">
                <a:solidFill>
                  <a:srgbClr val="48CAE4"/>
                </a:solidFill>
                <a:latin typeface="Calibri"/>
              </a:rPr>
              <a:t>id · désignation · emplacement · quantité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77559" y="2011680"/>
            <a:ext cx="36576" cy="365760"/>
          </a:xfrm>
          <a:prstGeom prst="rect">
            <a:avLst/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48640" y="2468880"/>
            <a:ext cx="3291840" cy="1005840"/>
          </a:xfrm>
          <a:prstGeom prst="roundRect">
            <a:avLst/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2578608"/>
            <a:ext cx="3108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EquipementAutomate</a:t>
            </a:r>
          </a:p>
          <a:p>
            <a:pPr algn="ctr"/>
            <a:r>
              <a:rPr sz="1000" b="0" i="0">
                <a:solidFill>
                  <a:srgbClr val="FFFFFF"/>
                </a:solidFill>
                <a:latin typeface="Calibri"/>
              </a:rPr>
              <a:t>marque · nb E/S · protocole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176272" y="2377440"/>
            <a:ext cx="36576" cy="109728"/>
          </a:xfrm>
          <a:prstGeom prst="rect">
            <a:avLst/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449927" y="2468880"/>
            <a:ext cx="3291840" cy="1005840"/>
          </a:xfrm>
          <a:prstGeom prst="roundRect">
            <a:avLst/>
          </a:prstGeom>
          <a:solidFill>
            <a:srgbClr val="0609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41367" y="2578608"/>
            <a:ext cx="3108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EquipementDrone</a:t>
            </a:r>
          </a:p>
          <a:p>
            <a:pPr algn="ctr"/>
            <a:r>
              <a:rPr sz="1000" b="0" i="0">
                <a:solidFill>
                  <a:srgbClr val="FFFFFF"/>
                </a:solidFill>
                <a:latin typeface="Calibri"/>
              </a:rPr>
              <a:t>masse · autonomie · capteur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077559" y="2377440"/>
            <a:ext cx="36576" cy="109728"/>
          </a:xfrm>
          <a:prstGeom prst="rect">
            <a:avLst/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351215" y="2468880"/>
            <a:ext cx="3291840" cy="100584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42655" y="2578608"/>
            <a:ext cx="3108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DocumentationTechnique</a:t>
            </a:r>
          </a:p>
          <a:p>
            <a:pPr algn="ctr"/>
            <a:r>
              <a:rPr sz="1000" b="0" i="0">
                <a:solidFill>
                  <a:srgbClr val="FFFFFF"/>
                </a:solidFill>
                <a:latin typeface="Calibri"/>
              </a:rPr>
              <a:t>auteur · pages · lien PDF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978847" y="2377440"/>
            <a:ext cx="36576" cy="109728"/>
          </a:xfrm>
          <a:prstGeom prst="rect">
            <a:avLst/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548640" y="3749039"/>
            <a:ext cx="11094415" cy="1371600"/>
          </a:xfrm>
          <a:prstGeom prst="roundRect">
            <a:avLst/>
          </a:prstGeom>
          <a:solidFill>
            <a:srgbClr val="E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7240" y="3886200"/>
            <a:ext cx="1063721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i="0">
                <a:solidFill>
                  <a:srgbClr val="1B3A5C"/>
                </a:solidFill>
                <a:latin typeface="Calibri"/>
              </a:rPr>
              <a:t>Méthodes abstraites :  getType()  ·  getDiagnostic()</a:t>
            </a:r>
          </a:p>
          <a:p>
            <a:pPr>
              <a:spcBef>
                <a:spcPts val="600"/>
              </a:spcBef>
            </a:pPr>
            <a:r>
              <a:rPr sz="1300" b="0" i="0">
                <a:solidFill>
                  <a:srgbClr val="475569"/>
                </a:solidFill>
                <a:latin typeface="Calibri"/>
              </a:rPr>
              <a:t>Chaque sous-classe redéfinit ces méthodes → polymorphisme à l'exécution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45720"/>
          </a:xfrm>
          <a:prstGeom prst="rect">
            <a:avLst/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</a:rPr>
              <a:t>Les 4 piliers de la POO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21792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 i="0">
                <a:solidFill>
                  <a:srgbClr val="48CAE4"/>
                </a:solidFill>
                <a:latin typeface="Calibri"/>
              </a:rPr>
              <a:t>Principes fondamentaux appliqués dans G-Lab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446520"/>
            <a:ext cx="12191695" cy="36576"/>
          </a:xfrm>
          <a:prstGeom prst="rect">
            <a:avLst/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94A3B8"/>
                </a:solidFill>
                <a:latin typeface="Calibri"/>
              </a:rPr>
              <a:t>Oussama Ennadafy  ·  G-Lab  ·  Juillet 2026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097280"/>
            <a:ext cx="2567863" cy="50292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1097280"/>
            <a:ext cx="2567863" cy="50292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1188720"/>
            <a:ext cx="2293543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Abstraction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1737360"/>
            <a:ext cx="2202103" cy="4251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 b="0" i="0">
                <a:solidFill>
                  <a:srgbClr val="475569"/>
                </a:solidFill>
                <a:latin typeface="Calibri"/>
              </a:rPr>
              <a:t>▸  Classe Ressource abstraite</a:t>
            </a:r>
          </a:p>
          <a:p>
            <a:pPr>
              <a:spcAft>
                <a:spcPts val="800"/>
              </a:spcAft>
            </a:pPr>
            <a:r>
              <a:rPr sz="1300" b="0" i="0">
                <a:solidFill>
                  <a:srgbClr val="475569"/>
                </a:solidFill>
                <a:latin typeface="Calibri"/>
              </a:rPr>
              <a:t>▸  Contrat via getType() et getDiagnostic()</a:t>
            </a:r>
          </a:p>
          <a:p>
            <a:pPr>
              <a:spcAft>
                <a:spcPts val="800"/>
              </a:spcAft>
            </a:pPr>
            <a:r>
              <a:rPr sz="1300" b="0" i="0">
                <a:solidFill>
                  <a:srgbClr val="475569"/>
                </a:solidFill>
                <a:latin typeface="Calibri"/>
              </a:rPr>
              <a:t>▸  Instanciation impossible directement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90823" y="1097280"/>
            <a:ext cx="2567863" cy="50292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390823" y="1097280"/>
            <a:ext cx="2567863" cy="502920"/>
          </a:xfrm>
          <a:prstGeom prst="rect">
            <a:avLst/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27983" y="1188720"/>
            <a:ext cx="2293543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Encapsulation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73703" y="1737360"/>
            <a:ext cx="2202103" cy="4251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 b="0" i="0">
                <a:solidFill>
                  <a:srgbClr val="475569"/>
                </a:solidFill>
                <a:latin typeface="Calibri"/>
              </a:rPr>
              <a:t>▸  Attributs private</a:t>
            </a:r>
          </a:p>
          <a:p>
            <a:pPr>
              <a:spcAft>
                <a:spcPts val="800"/>
              </a:spcAft>
            </a:pPr>
            <a:r>
              <a:rPr sz="1300" b="0" i="0">
                <a:solidFill>
                  <a:srgbClr val="475569"/>
                </a:solidFill>
                <a:latin typeface="Calibri"/>
              </a:rPr>
              <a:t>▸  Accesseurs / mutateurs publics</a:t>
            </a:r>
          </a:p>
          <a:p>
            <a:pPr>
              <a:spcAft>
                <a:spcPts val="800"/>
              </a:spcAft>
            </a:pPr>
            <a:r>
              <a:rPr sz="1300" b="0" i="0">
                <a:solidFill>
                  <a:srgbClr val="475569"/>
                </a:solidFill>
                <a:latin typeface="Calibri"/>
              </a:rPr>
              <a:t>▸  Validation dans le contrôleur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33007" y="1097280"/>
            <a:ext cx="2567863" cy="50292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33007" y="1097280"/>
            <a:ext cx="2567863" cy="502920"/>
          </a:xfrm>
          <a:prstGeom prst="rect">
            <a:avLst/>
          </a:prstGeom>
          <a:solidFill>
            <a:srgbClr val="0609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70167" y="1188720"/>
            <a:ext cx="2293543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Héritage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15887" y="1737360"/>
            <a:ext cx="2202103" cy="4251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 b="0" i="0">
                <a:solidFill>
                  <a:srgbClr val="475569"/>
                </a:solidFill>
                <a:latin typeface="Calibri"/>
              </a:rPr>
              <a:t>▸  3 sous-classes de Ressource</a:t>
            </a:r>
          </a:p>
          <a:p>
            <a:pPr>
              <a:spcAft>
                <a:spcPts val="800"/>
              </a:spcAft>
            </a:pPr>
            <a:r>
              <a:rPr sz="1300" b="0" i="0">
                <a:solidFill>
                  <a:srgbClr val="475569"/>
                </a:solidFill>
                <a:latin typeface="Calibri"/>
              </a:rPr>
              <a:t>▸  Réutilisation via super()</a:t>
            </a:r>
          </a:p>
          <a:p>
            <a:pPr>
              <a:spcAft>
                <a:spcPts val="800"/>
              </a:spcAft>
            </a:pPr>
            <a:r>
              <a:rPr sz="1300" b="0" i="0">
                <a:solidFill>
                  <a:srgbClr val="475569"/>
                </a:solidFill>
                <a:latin typeface="Calibri"/>
              </a:rPr>
              <a:t>▸  Spécialisation des attributs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075191" y="1097280"/>
            <a:ext cx="2567863" cy="50292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075191" y="1097280"/>
            <a:ext cx="2567863" cy="50292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212351" y="1188720"/>
            <a:ext cx="2293543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Polymorphisme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58071" y="1737360"/>
            <a:ext cx="2202103" cy="4251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 b="0" i="0">
                <a:solidFill>
                  <a:srgbClr val="475569"/>
                </a:solidFill>
                <a:latin typeface="Calibri"/>
              </a:rPr>
              <a:t>▸  getDiagnostic() redéfini</a:t>
            </a:r>
          </a:p>
          <a:p>
            <a:pPr>
              <a:spcAft>
                <a:spcPts val="800"/>
              </a:spcAft>
            </a:pPr>
            <a:r>
              <a:rPr sz="1300" b="0" i="0">
                <a:solidFill>
                  <a:srgbClr val="475569"/>
                </a:solidFill>
                <a:latin typeface="Calibri"/>
              </a:rPr>
              <a:t>▸  DAO accepte tout type Ressource</a:t>
            </a:r>
          </a:p>
          <a:p>
            <a:pPr>
              <a:spcAft>
                <a:spcPts val="800"/>
              </a:spcAft>
            </a:pPr>
            <a:r>
              <a:rPr sz="1300" b="0" i="0">
                <a:solidFill>
                  <a:srgbClr val="475569"/>
                </a:solidFill>
                <a:latin typeface="Calibri"/>
              </a:rPr>
              <a:t>▸  Switch de reconstruction en base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45720"/>
          </a:xfrm>
          <a:prstGeom prst="rect">
            <a:avLst/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</a:rPr>
              <a:t>Architecture MVC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21792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 i="0">
                <a:solidFill>
                  <a:srgbClr val="48CAE4"/>
                </a:solidFill>
                <a:latin typeface="Calibri"/>
              </a:rPr>
              <a:t>Séparation des responsabilités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446520"/>
            <a:ext cx="12191695" cy="36576"/>
          </a:xfrm>
          <a:prstGeom prst="rect">
            <a:avLst/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94A3B8"/>
                </a:solidFill>
                <a:latin typeface="Calibri"/>
              </a:rPr>
              <a:t>Oussama Ennadafy  ·  G-Lab  ·  Juillet 2026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920240" y="1143000"/>
            <a:ext cx="9722815" cy="8686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920240" y="1143000"/>
            <a:ext cx="109728" cy="868680"/>
          </a:xfrm>
          <a:prstGeom prst="rect">
            <a:avLst/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148840" y="1216152"/>
            <a:ext cx="2011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 i="0">
                <a:solidFill>
                  <a:srgbClr val="0096C7"/>
                </a:solidFill>
                <a:latin typeface="Calibri"/>
              </a:rPr>
              <a:t>VUE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48840" y="1490472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 i="0">
                <a:solidFill>
                  <a:srgbClr val="1E293B"/>
                </a:solidFill>
                <a:latin typeface="Calibri"/>
              </a:rPr>
              <a:t>FenetrePrincipale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35040" y="1417320"/>
            <a:ext cx="53336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 i="0">
                <a:solidFill>
                  <a:srgbClr val="475569"/>
                </a:solidFill>
                <a:latin typeface="Calibri"/>
              </a:rPr>
              <a:t>Swing · JTable · Formulaire adaptatif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201168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 i="0">
                <a:solidFill>
                  <a:srgbClr val="0096C7"/>
                </a:solidFill>
                <a:latin typeface="Calibri"/>
              </a:rPr>
              <a:t>▼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920240" y="2194560"/>
            <a:ext cx="9722815" cy="8686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920240" y="2194560"/>
            <a:ext cx="109728" cy="8686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148840" y="2267712"/>
            <a:ext cx="2011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 i="0">
                <a:solidFill>
                  <a:srgbClr val="1B3A5C"/>
                </a:solidFill>
                <a:latin typeface="Calibri"/>
              </a:rPr>
              <a:t>CONTRÔLEUR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148840" y="2542032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 i="0">
                <a:solidFill>
                  <a:srgbClr val="1E293B"/>
                </a:solidFill>
                <a:latin typeface="Calibri"/>
              </a:rPr>
              <a:t>RessourceController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35040" y="2468880"/>
            <a:ext cx="53336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 i="0">
                <a:solidFill>
                  <a:srgbClr val="475569"/>
                </a:solidFill>
                <a:latin typeface="Calibri"/>
              </a:rPr>
              <a:t>Validation · CRUD · Filtrage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306324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 i="0">
                <a:solidFill>
                  <a:srgbClr val="0096C7"/>
                </a:solidFill>
                <a:latin typeface="Calibri"/>
              </a:rPr>
              <a:t>▼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920240" y="3246120"/>
            <a:ext cx="9722815" cy="8686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920240" y="3246120"/>
            <a:ext cx="109728" cy="868680"/>
          </a:xfrm>
          <a:prstGeom prst="rect">
            <a:avLst/>
          </a:prstGeom>
          <a:solidFill>
            <a:srgbClr val="0609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148840" y="3319272"/>
            <a:ext cx="2011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 i="0">
                <a:solidFill>
                  <a:srgbClr val="06098A"/>
                </a:solidFill>
                <a:latin typeface="Calibri"/>
              </a:rPr>
              <a:t>MODÈLE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148840" y="3593592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 i="0">
                <a:solidFill>
                  <a:srgbClr val="1E293B"/>
                </a:solidFill>
                <a:latin typeface="Calibri"/>
              </a:rPr>
              <a:t>Ressource + sous-classes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035040" y="3520440"/>
            <a:ext cx="53336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 i="0">
                <a:solidFill>
                  <a:srgbClr val="475569"/>
                </a:solidFill>
                <a:latin typeface="Calibri"/>
              </a:rPr>
              <a:t>Données métier · POO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" y="411480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 i="0">
                <a:solidFill>
                  <a:srgbClr val="0096C7"/>
                </a:solidFill>
                <a:latin typeface="Calibri"/>
              </a:rPr>
              <a:t>▼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920240" y="4297680"/>
            <a:ext cx="9722815" cy="8686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920240" y="4297680"/>
            <a:ext cx="109728" cy="86868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148840" y="4370832"/>
            <a:ext cx="2011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 i="0">
                <a:solidFill>
                  <a:srgbClr val="7C3AED"/>
                </a:solidFill>
                <a:latin typeface="Calibri"/>
              </a:rPr>
              <a:t>DAO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148840" y="4645152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 i="0">
                <a:solidFill>
                  <a:srgbClr val="1E293B"/>
                </a:solidFill>
                <a:latin typeface="Calibri"/>
              </a:rPr>
              <a:t>RessourceDAO · DatabaseManager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035040" y="4572000"/>
            <a:ext cx="53336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 i="0">
                <a:solidFill>
                  <a:srgbClr val="475569"/>
                </a:solidFill>
                <a:latin typeface="Calibri"/>
              </a:rPr>
              <a:t>JDBC · SQLite · PreparedStatement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5943600"/>
            <a:ext cx="1109441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 i="0">
                <a:solidFill>
                  <a:srgbClr val="1B3A5C"/>
                </a:solidFill>
                <a:latin typeface="Calibri"/>
              </a:rPr>
              <a:t>Flux :  Utilisateur  →  Vue  →  Contrôleur  →  DAO  →  Base SQLite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45720"/>
          </a:xfrm>
          <a:prstGeom prst="rect">
            <a:avLst/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</a:rPr>
              <a:t>Fonctionnalités clés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446520"/>
            <a:ext cx="12191695" cy="36576"/>
          </a:xfrm>
          <a:prstGeom prst="rect">
            <a:avLst/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94A3B8"/>
                </a:solidFill>
                <a:latin typeface="Calibri"/>
              </a:rPr>
              <a:t>Oussama Ennadafy  ·  G-Lab  ·  Juillet 2026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143000"/>
            <a:ext cx="5410047" cy="12344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32588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0" i="0">
                <a:solidFill>
                  <a:srgbClr val="0096C7"/>
                </a:solidFill>
                <a:latin typeface="Calibri"/>
              </a:rPr>
              <a:t>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1280160"/>
            <a:ext cx="4632807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 i="0">
                <a:solidFill>
                  <a:srgbClr val="1E293B"/>
                </a:solidFill>
                <a:latin typeface="Calibri"/>
              </a:rPr>
              <a:t>Tableau dynamique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1645920"/>
            <a:ext cx="4632807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 i="0">
                <a:solidFill>
                  <a:srgbClr val="475569"/>
                </a:solidFill>
                <a:latin typeface="Calibri"/>
              </a:rPr>
              <a:t>Affichage complet du stock avec diagnostic polymorphe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33007" y="1143000"/>
            <a:ext cx="5410047" cy="12344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70167" y="132588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0" i="0">
                <a:solidFill>
                  <a:srgbClr val="0096C7"/>
                </a:solidFill>
                <a:latin typeface="Calibri"/>
              </a:rPr>
              <a:t>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73087" y="1280160"/>
            <a:ext cx="4632807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 i="0">
                <a:solidFill>
                  <a:srgbClr val="1E293B"/>
                </a:solidFill>
                <a:latin typeface="Calibri"/>
              </a:rPr>
              <a:t>Formulaire adaptatif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73087" y="1645920"/>
            <a:ext cx="4632807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 i="0">
                <a:solidFill>
                  <a:srgbClr val="475569"/>
                </a:solidFill>
                <a:latin typeface="Calibri"/>
              </a:rPr>
              <a:t>Champs activés/désactivés selon le type de ressource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2560320"/>
            <a:ext cx="5410047" cy="12344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274320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0" i="0">
                <a:solidFill>
                  <a:srgbClr val="0096C7"/>
                </a:solidFill>
                <a:latin typeface="Calibri"/>
              </a:rPr>
              <a:t>🔍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88720" y="2697480"/>
            <a:ext cx="4632807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 i="0">
                <a:solidFill>
                  <a:srgbClr val="1E293B"/>
                </a:solidFill>
                <a:latin typeface="Calibri"/>
              </a:rPr>
              <a:t>Recherche temps réel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88720" y="3063240"/>
            <a:ext cx="4632807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 i="0">
                <a:solidFill>
                  <a:srgbClr val="475569"/>
                </a:solidFill>
                <a:latin typeface="Calibri"/>
              </a:rPr>
              <a:t>Filtrage instantané par désignation, type ou emplacement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33007" y="2560320"/>
            <a:ext cx="5410047" cy="12344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70167" y="274320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0" i="0">
                <a:solidFill>
                  <a:srgbClr val="0096C7"/>
                </a:solidFill>
                <a:latin typeface="Calibri"/>
              </a:rPr>
              <a:t>✅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73087" y="2697480"/>
            <a:ext cx="4632807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 i="0">
                <a:solidFill>
                  <a:srgbClr val="1E293B"/>
                </a:solidFill>
                <a:latin typeface="Calibri"/>
              </a:rPr>
              <a:t>Validation robuste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73087" y="3063240"/>
            <a:ext cx="4632807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 i="0">
                <a:solidFill>
                  <a:srgbClr val="475569"/>
                </a:solidFill>
                <a:latin typeface="Calibri"/>
              </a:rPr>
              <a:t>Messages d'erreur explicites via JOptionPane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8640" y="3977640"/>
            <a:ext cx="5410047" cy="12344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5800" y="416052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0" i="0">
                <a:solidFill>
                  <a:srgbClr val="0096C7"/>
                </a:solidFill>
                <a:latin typeface="Calibri"/>
              </a:rPr>
              <a:t>💾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88720" y="4114800"/>
            <a:ext cx="4632807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 i="0">
                <a:solidFill>
                  <a:srgbClr val="1E293B"/>
                </a:solidFill>
                <a:latin typeface="Calibri"/>
              </a:rPr>
              <a:t>Persistance SQLite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88720" y="4480560"/>
            <a:ext cx="4632807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 i="0">
                <a:solidFill>
                  <a:srgbClr val="475569"/>
                </a:solidFill>
                <a:latin typeface="Calibri"/>
              </a:rPr>
              <a:t>Sauvegarde automatique en base locale JDBC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33007" y="3977640"/>
            <a:ext cx="5410047" cy="12344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70167" y="416052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0" i="0">
                <a:solidFill>
                  <a:srgbClr val="0096C7"/>
                </a:solidFill>
                <a:latin typeface="Calibri"/>
              </a:rPr>
              <a:t>🗑️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73087" y="4114800"/>
            <a:ext cx="4632807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 i="0">
                <a:solidFill>
                  <a:srgbClr val="1E293B"/>
                </a:solidFill>
                <a:latin typeface="Calibri"/>
              </a:rPr>
              <a:t>Suppression sécurisée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73087" y="4480560"/>
            <a:ext cx="4632807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 i="0">
                <a:solidFill>
                  <a:srgbClr val="475569"/>
                </a:solidFill>
                <a:latin typeface="Calibri"/>
              </a:rPr>
              <a:t>Confirmation avant suppression avec dialogue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45720"/>
          </a:xfrm>
          <a:prstGeom prst="rect">
            <a:avLst/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</a:rPr>
              <a:t>Interface utilisateur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21792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 i="0">
                <a:solidFill>
                  <a:srgbClr val="48CAE4"/>
                </a:solidFill>
                <a:latin typeface="Calibri"/>
              </a:rPr>
              <a:t>3 zones fonctionnelles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446520"/>
            <a:ext cx="12191695" cy="36576"/>
          </a:xfrm>
          <a:prstGeom prst="rect">
            <a:avLst/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94A3B8"/>
                </a:solidFill>
                <a:latin typeface="Calibri"/>
              </a:rPr>
              <a:t>Oussama Ennadafy  ·  G-Lab  ·  Juillet 2026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143000"/>
            <a:ext cx="11094415" cy="12344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1143000"/>
            <a:ext cx="109728" cy="1234440"/>
          </a:xfrm>
          <a:prstGeom prst="rect">
            <a:avLst/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1252728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 i="0">
                <a:solidFill>
                  <a:srgbClr val="0096C7"/>
                </a:solidFill>
                <a:latin typeface="Calibri"/>
              </a:rPr>
              <a:t>Zone 1 — Recherche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1618488"/>
            <a:ext cx="6400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
                  <a:srgbClr val="475569"/>
                </a:solidFill>
                <a:latin typeface="Calibri"/>
              </a:rPr>
              <a:t>Champ de filtrage en temps réel</a:t>
            </a:r>
          </a:p>
          <a:p>
            <a:r>
              <a:rPr sz="1200" b="0" i="0">
                <a:solidFill>
                  <a:srgbClr val="475569"/>
                </a:solidFill>
                <a:latin typeface="Calibri"/>
              </a:rPr>
              <a:t>sur type, désignation, emplacement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2560320"/>
            <a:ext cx="11094415" cy="12344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48640" y="2560320"/>
            <a:ext cx="109728" cy="123444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2670048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 i="0">
                <a:solidFill>
                  <a:srgbClr val="1B3A5C"/>
                </a:solidFill>
                <a:latin typeface="Calibri"/>
              </a:rPr>
              <a:t>Zone 2 — Tableau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3035808"/>
            <a:ext cx="6400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
                  <a:srgbClr val="475569"/>
                </a:solidFill>
                <a:latin typeface="Calibri"/>
              </a:rPr>
              <a:t>JTable avec tri et colonnes :</a:t>
            </a:r>
          </a:p>
          <a:p>
            <a:r>
              <a:rPr sz="1200" b="0" i="0">
                <a:solidFill>
                  <a:srgbClr val="475569"/>
                </a:solidFill>
                <a:latin typeface="Calibri"/>
              </a:rPr>
              <a:t>ID · Type · Désignation · Emplacement · Qté · Diagnostic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3977640"/>
            <a:ext cx="11094415" cy="12344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48640" y="3977640"/>
            <a:ext cx="109728" cy="1234440"/>
          </a:xfrm>
          <a:prstGeom prst="rect">
            <a:avLst/>
          </a:prstGeom>
          <a:solidFill>
            <a:srgbClr val="0609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4087368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 i="0">
                <a:solidFill>
                  <a:srgbClr val="06098A"/>
                </a:solidFill>
                <a:latin typeface="Calibri"/>
              </a:rPr>
              <a:t>Zone 3 — Formulaire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4453128"/>
            <a:ext cx="6400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
                  <a:srgbClr val="475569"/>
                </a:solidFill>
                <a:latin typeface="Calibri"/>
              </a:rPr>
              <a:t>Ajout de ressource avec champs</a:t>
            </a:r>
          </a:p>
          <a:p>
            <a:r>
              <a:rPr sz="1200" b="0" i="0">
                <a:solidFill>
                  <a:srgbClr val="475569"/>
                </a:solidFill>
                <a:latin typeface="Calibri"/>
              </a:rPr>
              <a:t>adaptatifs selon le type sélectionné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168335" y="1143000"/>
            <a:ext cx="3200400" cy="4206240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05495" y="2743200"/>
            <a:ext cx="29260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94A3B8"/>
                </a:solidFill>
                <a:latin typeface="Calibri"/>
              </a:rPr>
              <a:t>[ Capture d'écran ]</a:t>
            </a:r>
          </a:p>
          <a:p>
            <a:pPr algn="ctr"/>
            <a:r>
              <a:rPr sz="1100" b="0" i="1">
                <a:solidFill>
                  <a:srgbClr val="94A3B8"/>
                </a:solidFill>
                <a:latin typeface="Calibri"/>
              </a:rPr>
              <a:t>Insérer ici une</a:t>
            </a:r>
            <a:br/>
            <a:r>
              <a:t>image de l'application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45720"/>
          </a:xfrm>
          <a:prstGeom prst="rect">
            <a:avLst/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</a:rPr>
              <a:t>Structure du code source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21792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 i="0">
                <a:solidFill>
                  <a:srgbClr val="48CAE4"/>
                </a:solidFill>
                <a:latin typeface="Calibri"/>
              </a:rPr>
              <a:t>10 fichiers Java · ~1 200 lignes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446520"/>
            <a:ext cx="12191695" cy="36576"/>
          </a:xfrm>
          <a:prstGeom prst="rect">
            <a:avLst/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94A3B8"/>
                </a:solidFill>
                <a:latin typeface="Calibri"/>
              </a:rPr>
              <a:t>Oussama Ennadafy  ·  G-Lab  ·  Juillet 2026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097280"/>
            <a:ext cx="11094415" cy="74980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1097280"/>
            <a:ext cx="91440" cy="749808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1170432"/>
            <a:ext cx="3200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 i="0">
                <a:solidFill>
                  <a:srgbClr val="0D1B2A"/>
                </a:solidFill>
                <a:latin typeface="Calibri"/>
              </a:rPr>
              <a:t>com.glab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23360" y="1170432"/>
            <a:ext cx="3200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 i="0">
                <a:solidFill>
                  <a:srgbClr val="1E293B"/>
                </a:solidFill>
                <a:latin typeface="Calibri"/>
              </a:rPr>
              <a:t>GLabApp.java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1481328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 i="0">
                <a:solidFill>
                  <a:srgbClr val="475569"/>
                </a:solidFill>
                <a:latin typeface="Calibri"/>
              </a:rPr>
              <a:t>Point d'entrée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1965960"/>
            <a:ext cx="11094415" cy="74980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" y="1965960"/>
            <a:ext cx="91440" cy="749808"/>
          </a:xfrm>
          <a:prstGeom prst="rect">
            <a:avLst/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2039112"/>
            <a:ext cx="3200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 i="0">
                <a:solidFill>
                  <a:srgbClr val="0096C7"/>
                </a:solidFill>
                <a:latin typeface="Calibri"/>
              </a:rPr>
              <a:t>com.glab.model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023360" y="2039112"/>
            <a:ext cx="3200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 i="0">
                <a:solidFill>
                  <a:srgbClr val="1E293B"/>
                </a:solidFill>
                <a:latin typeface="Calibri"/>
              </a:rPr>
              <a:t>4 classes POO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2350008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 i="0">
                <a:solidFill>
                  <a:srgbClr val="475569"/>
                </a:solidFill>
                <a:latin typeface="Calibri"/>
              </a:rPr>
              <a:t>Ressource (abstract) + 3 sous-classes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2834640"/>
            <a:ext cx="11094415" cy="74980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48640" y="2834640"/>
            <a:ext cx="91440" cy="749808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2907792"/>
            <a:ext cx="3200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 i="0">
                <a:solidFill>
                  <a:srgbClr val="1B3A5C"/>
                </a:solidFill>
                <a:latin typeface="Calibri"/>
              </a:rPr>
              <a:t>com.glab.controller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023360" y="2907792"/>
            <a:ext cx="3200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 i="0">
                <a:solidFill>
                  <a:srgbClr val="1E293B"/>
                </a:solidFill>
                <a:latin typeface="Calibri"/>
              </a:rPr>
              <a:t>RessourceController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3218688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 i="0">
                <a:solidFill>
                  <a:srgbClr val="475569"/>
                </a:solidFill>
                <a:latin typeface="Calibri"/>
              </a:rPr>
              <a:t>Validation · Ajout · Suppression · Filtrage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8640" y="3703320"/>
            <a:ext cx="11094415" cy="74980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48640" y="3703320"/>
            <a:ext cx="91440" cy="749808"/>
          </a:xfrm>
          <a:prstGeom prst="rect">
            <a:avLst/>
          </a:prstGeom>
          <a:solidFill>
            <a:srgbClr val="0609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1520" y="3776472"/>
            <a:ext cx="3200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 i="0">
                <a:solidFill>
                  <a:srgbClr val="06098A"/>
                </a:solidFill>
                <a:latin typeface="Calibri"/>
              </a:rPr>
              <a:t>com.glab.database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023360" y="3776472"/>
            <a:ext cx="3200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 i="0">
                <a:solidFill>
                  <a:srgbClr val="1E293B"/>
                </a:solidFill>
                <a:latin typeface="Calibri"/>
              </a:rPr>
              <a:t>DatabaseManager · RessourceDAO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" y="4087368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 i="0">
                <a:solidFill>
                  <a:srgbClr val="475569"/>
                </a:solidFill>
                <a:latin typeface="Calibri"/>
              </a:rPr>
              <a:t>Connexion SQLite · CRUD polymorphe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48640" y="4572000"/>
            <a:ext cx="11094415" cy="74980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48640" y="4572000"/>
            <a:ext cx="91440" cy="74980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31520" y="4645152"/>
            <a:ext cx="3200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 i="0">
                <a:solidFill>
                  <a:srgbClr val="7C3AED"/>
                </a:solidFill>
                <a:latin typeface="Calibri"/>
              </a:rPr>
              <a:t>com.glab.view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023360" y="4645152"/>
            <a:ext cx="3200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 i="0">
                <a:solidFill>
                  <a:srgbClr val="1E293B"/>
                </a:solidFill>
                <a:latin typeface="Calibri"/>
              </a:rPr>
              <a:t>FenetrePrincipale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1520" y="4956048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 i="0">
                <a:solidFill>
                  <a:srgbClr val="475569"/>
                </a:solidFill>
                <a:latin typeface="Calibri"/>
              </a:rPr>
              <a:t>Interface Swing complète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48640" y="5486400"/>
            <a:ext cx="11094415" cy="59436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31520" y="5577840"/>
            <a:ext cx="10728655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 i="0">
                <a:solidFill>
                  <a:srgbClr val="48CAE4"/>
                </a:solidFill>
                <a:latin typeface="Calibri"/>
              </a:rPr>
              <a:t>$ mvn exec:java   ·   bash run.sh   ·   java -jar target/g-lab-1.0.0.jar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45720"/>
          </a:xfrm>
          <a:prstGeom prst="rect">
            <a:avLst/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</a:rPr>
              <a:t>Persistance des données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21792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 i="0">
                <a:solidFill>
                  <a:srgbClr val="48CAE4"/>
                </a:solidFill>
                <a:latin typeface="Calibri"/>
              </a:rPr>
              <a:t>JDBC · SQLite · Pattern DAO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446520"/>
            <a:ext cx="12191695" cy="36576"/>
          </a:xfrm>
          <a:prstGeom prst="rect">
            <a:avLst/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94A3B8"/>
                </a:solidFill>
                <a:latin typeface="Calibri"/>
              </a:rPr>
              <a:t>Oussama Ennadafy  ·  G-Lab  ·  Juillet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143000"/>
            <a:ext cx="11094415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i="0" b="0">
                <a:solidFill>
                  <a:srgbClr val="475569"/>
                </a:solidFill>
                <a:latin typeface="Calibri"/>
              </a:rPr>
              <a:t>●  Base SQLite locale glab_parc.db — créée automatiquement au premier lancement</a:t>
            </a:r>
          </a:p>
          <a:p>
            <a:pPr>
              <a:spcAft>
                <a:spcPts val="1000"/>
              </a:spcAft>
            </a:pPr>
            <a:r>
              <a:rPr sz="1600" i="0" b="0">
                <a:solidFill>
                  <a:srgbClr val="475569"/>
                </a:solidFill>
                <a:latin typeface="Calibri"/>
              </a:rPr>
              <a:t>●  Table unique ressources avec colonnes génériques pour les attributs spécifiques</a:t>
            </a:r>
          </a:p>
          <a:p>
            <a:pPr>
              <a:spcAft>
                <a:spcPts val="1000"/>
              </a:spcAft>
            </a:pPr>
            <a:r>
              <a:rPr sz="1600" i="0" b="0">
                <a:solidFill>
                  <a:srgbClr val="475569"/>
                </a:solidFill>
                <a:latin typeface="Calibri"/>
              </a:rPr>
              <a:t>●  PreparedStatement pour se protéger contre les injections SQL</a:t>
            </a:r>
          </a:p>
          <a:p>
            <a:pPr>
              <a:spcAft>
                <a:spcPts val="1000"/>
              </a:spcAft>
            </a:pPr>
            <a:r>
              <a:rPr sz="1600" i="0" b="0">
                <a:solidFill>
                  <a:srgbClr val="475569"/>
                </a:solidFill>
                <a:latin typeface="Calibri"/>
              </a:rPr>
              <a:t>●  Try-with-resources pour la fermeture automatique des connexions JDBC</a:t>
            </a:r>
          </a:p>
          <a:p>
            <a:pPr>
              <a:spcAft>
                <a:spcPts val="1000"/>
              </a:spcAft>
            </a:pPr>
            <a:r>
              <a:rPr sz="1600" i="0" b="0">
                <a:solidFill>
                  <a:srgbClr val="475569"/>
                </a:solidFill>
                <a:latin typeface="Calibri"/>
              </a:rPr>
              <a:t>●  Pattern DAO : RessourceDAO isole tout accès à la base de données</a:t>
            </a:r>
          </a:p>
          <a:p>
            <a:pPr>
              <a:spcAft>
                <a:spcPts val="1000"/>
              </a:spcAft>
            </a:pPr>
            <a:r>
              <a:rPr sz="1600" i="0" b="0">
                <a:solidFill>
                  <a:srgbClr val="475569"/>
                </a:solidFill>
                <a:latin typeface="Calibri"/>
              </a:rPr>
              <a:t>●  Reconstruction polymorphe des objets à la lecture via switch sur le type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097280"/>
            <a:ext cx="91440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 i="0">
                <a:solidFill>
                  <a:srgbClr val="FFFFFF"/>
                </a:solidFill>
                <a:latin typeface="Calibri"/>
              </a:rPr>
              <a:t>Conclusion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920240"/>
            <a:ext cx="2286000" cy="36576"/>
          </a:xfrm>
          <a:prstGeom prst="rect">
            <a:avLst/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2194560"/>
            <a:ext cx="6400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600" b="0" i="0">
                <a:solidFill>
                  <a:srgbClr val="48CAE4"/>
                </a:solidFill>
                <a:latin typeface="Calibri"/>
              </a:rPr>
              <a:t>✔   Application concrète des 4 piliers de la POO</a:t>
            </a:r>
          </a:p>
          <a:p>
            <a:pPr>
              <a:spcAft>
                <a:spcPts val="1200"/>
              </a:spcAft>
            </a:pPr>
            <a:r>
              <a:rPr sz="1600" b="0" i="0">
                <a:solidFill>
                  <a:srgbClr val="48CAE4"/>
                </a:solidFill>
                <a:latin typeface="Calibri"/>
              </a:rPr>
              <a:t>✔   Architecture MVC maintenable et évolutive</a:t>
            </a:r>
          </a:p>
          <a:p>
            <a:pPr>
              <a:spcAft>
                <a:spcPts val="1200"/>
              </a:spcAft>
            </a:pPr>
            <a:r>
              <a:rPr sz="1600" b="0" i="0">
                <a:solidFill>
                  <a:srgbClr val="48CAE4"/>
                </a:solidFill>
                <a:latin typeface="Calibri"/>
              </a:rPr>
              <a:t>✔   Persistance fiable via JDBC / SQLite</a:t>
            </a:r>
          </a:p>
          <a:p>
            <a:pPr>
              <a:spcAft>
                <a:spcPts val="1200"/>
              </a:spcAft>
            </a:pPr>
            <a:r>
              <a:rPr sz="1600" b="0" i="0">
                <a:solidFill>
                  <a:srgbClr val="48CAE4"/>
                </a:solidFill>
                <a:latin typeface="Calibri"/>
              </a:rPr>
              <a:t>✔   Interface ergonomique avec formulaire adaptatif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4480560"/>
            <a:ext cx="6400800" cy="1097280"/>
          </a:xfrm>
          <a:prstGeom prst="round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4572000"/>
            <a:ext cx="60350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 i="0">
                <a:solidFill>
                  <a:srgbClr val="F59E0B"/>
                </a:solidFill>
                <a:latin typeface="Calibri"/>
              </a:rPr>
              <a:t>Perspectives</a:t>
            </a:r>
          </a:p>
          <a:p>
            <a:r>
              <a:rPr sz="1200" b="0" i="0">
                <a:solidFill>
                  <a:srgbClr val="94A3B8"/>
                </a:solidFill>
                <a:latin typeface="Calibri"/>
              </a:rPr>
              <a:t>Nouveaux types de ressources · Migration PostgreSQL · Interface web · Export PDF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5669280"/>
            <a:ext cx="91440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 i="0">
                <a:solidFill>
                  <a:srgbClr val="FFFFFF"/>
                </a:solidFill>
                <a:latin typeface="Calibri"/>
              </a:rPr>
              <a:t>Merci pour votre attention</a:t>
            </a:r>
          </a:p>
          <a:p>
            <a:pPr>
              <a:spcBef>
                <a:spcPts val="400"/>
              </a:spcBef>
            </a:pPr>
            <a:r>
              <a:rPr sz="1600" b="1" i="0">
                <a:solidFill>
                  <a:srgbClr val="48CAE4"/>
                </a:solidFill>
                <a:latin typeface="Calibri"/>
              </a:rPr>
              <a:t>Oussama Ennadafy</a:t>
            </a:r>
          </a:p>
          <a:p>
            <a:pPr>
              <a:spcBef>
                <a:spcPts val="600"/>
              </a:spcBef>
            </a:pPr>
            <a:r>
              <a:rPr sz="1400" b="0" i="1">
                <a:solidFill>
                  <a:srgbClr val="94A3B8"/>
                </a:solidFill>
                <a:latin typeface="Calibri"/>
              </a:rPr>
              <a:t>Questions 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