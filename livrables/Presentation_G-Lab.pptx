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91295" y="0"/>
            <a:ext cx="3200400" cy="73152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G-Lab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48CAE4"/>
                </a:solidFill>
                <a:latin typeface="Calibri"/>
              </a:rPr>
              <a:t>Gestion du parc de matériel</a:t>
            </a:r>
            <a:br/>
            <a:r>
              <a:t>d'un laboratoire technologique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429000"/>
            <a:ext cx="2286000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Réalisé par  Abdallah ATGUIRI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Projet Java — Programmation Orientée Objet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94A3B8"/>
                </a:solidFill>
                <a:latin typeface="Calibri"/>
              </a:rPr>
              <a:t>Juillet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65615" y="5486400"/>
            <a:ext cx="2377440" cy="82296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57055" y="5596128"/>
            <a:ext cx="21945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48CAE4"/>
                </a:solidFill>
                <a:latin typeface="Calibri"/>
              </a:rPr>
              <a:t>Java 17  ·  Swing  · 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188720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61872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801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Contexte &amp; Problématique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188720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261872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801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Objectifs du projet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847088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92024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1938528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Technologies &amp; 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847088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192024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38528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Conception Orientée Objet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505456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578608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596896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Architecture MVC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2505456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2578608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596896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Fonctionnalités &amp; Démonstration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163824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236976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255264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Structure du code &amp; Persistance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3163824"/>
            <a:ext cx="502920" cy="5029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89320" y="3236976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255264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Calibri"/>
              </a:rPr>
              <a:t>Conclusion &amp;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Contexte &amp; Problématique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Laboratoire universitaire avec un parc hétérogène de matériel technologique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Automates industriels, drones embarqués et documentation technique à gérer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La gestion manuelle du stock entraîne des erreurs et une perte de temps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Besoin d'une application centralisée, persistante et ergonomique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Solution développée : G-Lab — application Java desktop avec interface Swing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Modéliser les ressources par une hiérarchie de classes orientée objet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Appliquer les 4 piliers POO : abstraction, encapsulation, héritage, polymorphisme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Implémenter une architecture MVC claire et maintenable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Valider les saisies utilisateur avec des messages d'erreur explicites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Assurer la persistance des données via JDBC et SQLite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Technologies &amp; Outils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3515258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3515258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24093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314949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Java 17 (LTS)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JDBC + SQLite 3.45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Maven — build &amp; dépendances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SLF4J — journalisation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097280"/>
            <a:ext cx="3515258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097280"/>
            <a:ext cx="3515258" cy="5029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5378" y="1188720"/>
            <a:ext cx="324093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Interface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1737360"/>
            <a:ext cx="314949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Swing — JTable, JFrame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JOptionPane — dialogues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Formulaire adaptatif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Filtrage temps réel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1097280"/>
            <a:ext cx="3515258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7796" y="1097280"/>
            <a:ext cx="3515258" cy="502920"/>
          </a:xfrm>
          <a:prstGeom prst="rect">
            <a:avLst/>
          </a:prstGeom>
          <a:solidFill>
            <a:srgbClr val="060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4956" y="1188720"/>
            <a:ext cx="324093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1737360"/>
            <a:ext cx="3149498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Pattern MVC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Pattern DAO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Try-with-resources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PreparedStatement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Conception Orientée Objet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8CAE4"/>
                </a:solidFill>
                <a:latin typeface="Calibri"/>
              </a:rPr>
              <a:t>Hiérarchie des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09847" y="1188720"/>
            <a:ext cx="4572000" cy="82296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01287" y="1298448"/>
            <a:ext cx="4389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«abstract» Ressource</a:t>
            </a:r>
          </a:p>
          <a:p>
            <a:pPr algn="ctr"/>
            <a:r>
              <a:rPr sz="1000" b="0" i="0">
                <a:solidFill>
                  <a:srgbClr val="48CAE4"/>
                </a:solidFill>
                <a:latin typeface="Calibri"/>
              </a:rPr>
              <a:t>id · désignation · emplacement · quantité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77559" y="2011680"/>
            <a:ext cx="36576" cy="36576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468880"/>
            <a:ext cx="3291840" cy="100584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EquipementAutomate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marque · nb E/S · protocole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76272" y="2377440"/>
            <a:ext cx="36576" cy="109728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2468880"/>
            <a:ext cx="3291840" cy="1005840"/>
          </a:xfrm>
          <a:prstGeom prst="roundRect">
            <a:avLst/>
          </a:prstGeom>
          <a:solidFill>
            <a:srgbClr val="060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1367" y="2578608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EquipementDrone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masse · autonomie · capteur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7559" y="2377440"/>
            <a:ext cx="36576" cy="109728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51215" y="2468880"/>
            <a:ext cx="329184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2655" y="2578608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DocumentationTechnique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auteur · pages · lien PDF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78847" y="2377440"/>
            <a:ext cx="36576" cy="109728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3749039"/>
            <a:ext cx="11094415" cy="137160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8620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B3A5C"/>
                </a:solidFill>
                <a:latin typeface="Calibri"/>
              </a:rPr>
              <a:t>Méthodes abstraites :  getType()  ·  getDiagnostic()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Calibri"/>
              </a:rPr>
              <a:t>Chaque sous-classe redéfinit ces méthodes → polymorphisme à l'exécution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Les 4 piliers de la POO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8CAE4"/>
                </a:solidFill>
                <a:latin typeface="Calibri"/>
              </a:rPr>
              <a:t>Principes fondamentaux appliqués dans G-Lab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97280"/>
            <a:ext cx="2567863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97280"/>
            <a:ext cx="2567863" cy="5029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188720"/>
            <a:ext cx="229354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Abstraction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2202103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Classe Ressource abstraite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Contrat via getType() et getDiagnostic()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Instanciation impossible directement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0823" y="1097280"/>
            <a:ext cx="2567863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0823" y="1097280"/>
            <a:ext cx="2567863" cy="5029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7983" y="1188720"/>
            <a:ext cx="229354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Encapsulation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1737360"/>
            <a:ext cx="2202103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Attributs private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Accesseurs / mutateurs publics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Validation dans le contrôleur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097280"/>
            <a:ext cx="2567863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097280"/>
            <a:ext cx="2567863" cy="502920"/>
          </a:xfrm>
          <a:prstGeom prst="rect">
            <a:avLst/>
          </a:prstGeom>
          <a:solidFill>
            <a:srgbClr val="060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0167" y="1188720"/>
            <a:ext cx="229354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Héritage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1737360"/>
            <a:ext cx="2202103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3 sous-classes de Ressource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Réutilisation via super()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Spécialisation des attributs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5191" y="1097280"/>
            <a:ext cx="2567863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5191" y="1097280"/>
            <a:ext cx="2567863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2351" y="1188720"/>
            <a:ext cx="229354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Polymorphisme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1737360"/>
            <a:ext cx="2202103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getDiagnostic() redéfini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DAO accepte tout type Ressource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475569"/>
                </a:solidFill>
                <a:latin typeface="Calibri"/>
              </a:rPr>
              <a:t>▸  Switch de reconstruction en base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Architecture MVC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8CAE4"/>
                </a:solidFill>
                <a:latin typeface="Calibri"/>
              </a:rPr>
              <a:t>Séparation des responsabilités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1143000"/>
            <a:ext cx="9722815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20240" y="1143000"/>
            <a:ext cx="109728" cy="86868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121615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0096C7"/>
                </a:solidFill>
                <a:latin typeface="Calibri"/>
              </a:rPr>
              <a:t>VUE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49047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FenetrePrincipale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417320"/>
            <a:ext cx="5333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Calibri"/>
              </a:rPr>
              <a:t>Swing · JTable · Formulaire adaptatif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0116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96C7"/>
                </a:solidFill>
                <a:latin typeface="Calibr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2194560"/>
            <a:ext cx="9722815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20240" y="2194560"/>
            <a:ext cx="109728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226771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1B3A5C"/>
                </a:solidFill>
                <a:latin typeface="Calibri"/>
              </a:rPr>
              <a:t>CONTRÔLEUR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254203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RessourceController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468880"/>
            <a:ext cx="5333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Calibri"/>
              </a:rPr>
              <a:t>Validation · CRUD · Filtrage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06324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96C7"/>
                </a:solidFill>
                <a:latin typeface="Calibr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3246120"/>
            <a:ext cx="9722815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20240" y="3246120"/>
            <a:ext cx="109728" cy="868680"/>
          </a:xfrm>
          <a:prstGeom prst="rect">
            <a:avLst/>
          </a:prstGeom>
          <a:solidFill>
            <a:srgbClr val="060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48840" y="331927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06098A"/>
                </a:solidFill>
                <a:latin typeface="Calibri"/>
              </a:rPr>
              <a:t>MODÈLE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59359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Ressource + sous-classes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520440"/>
            <a:ext cx="5333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Calibri"/>
              </a:rPr>
              <a:t>Données métier · POO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11480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0096C7"/>
                </a:solidFill>
                <a:latin typeface="Calibri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4297680"/>
            <a:ext cx="9722815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4297680"/>
            <a:ext cx="109728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8840" y="4370832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7C3AED"/>
                </a:solidFill>
                <a:latin typeface="Calibri"/>
              </a:rPr>
              <a:t>DAO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46451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RessourceDAO · DatabaseManager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4572000"/>
            <a:ext cx="5333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Calibri"/>
              </a:rPr>
              <a:t>JDBC · SQLite · PreparedStatement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1B3A5C"/>
                </a:solidFill>
                <a:latin typeface="Calibri"/>
              </a:rPr>
              <a:t>Flux :  Utilisateur  →  Vue  →  Contrôleur  →  DAO  →  Base SQLite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Fonctionnalités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143000"/>
            <a:ext cx="5410047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0096C7"/>
                </a:solidFill>
                <a:latin typeface="Calibri"/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80160"/>
            <a:ext cx="463280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Tableau dynamique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45920"/>
            <a:ext cx="46328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Affichage complet du stock avec diagnostic polymorphe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143000"/>
            <a:ext cx="5410047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325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0096C7"/>
                </a:solidFill>
                <a:latin typeface="Calibri"/>
              </a:rP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3087" y="1280160"/>
            <a:ext cx="463280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Formulaire adaptatif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3087" y="1645920"/>
            <a:ext cx="46328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Champs activés/désactivés selon le type de ressource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560320"/>
            <a:ext cx="5410047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0096C7"/>
                </a:solidFill>
                <a:latin typeface="Calibri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97480"/>
            <a:ext cx="463280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Recherche temps réel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063240"/>
            <a:ext cx="46328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Filtrage instantané par désignation, type ou emplacement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560320"/>
            <a:ext cx="5410047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0167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0096C7"/>
                </a:solidFill>
                <a:latin typeface="Calibri"/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3087" y="2697480"/>
            <a:ext cx="463280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Validation robuste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3087" y="3063240"/>
            <a:ext cx="46328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Messages d'erreur explicites via JOptionPane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77640"/>
            <a:ext cx="5410047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160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0096C7"/>
                </a:solidFill>
                <a:latin typeface="Calibri"/>
              </a:rPr>
              <a:t>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114800"/>
            <a:ext cx="463280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Persistance SQLite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6328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Sauvegarde automatique en base locale JDBC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7" y="3977640"/>
            <a:ext cx="5410047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4160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0096C7"/>
                </a:solidFill>
                <a:latin typeface="Calibri"/>
              </a:rPr>
              <a:t>🗑️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3087" y="4114800"/>
            <a:ext cx="463280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E293B"/>
                </a:solidFill>
                <a:latin typeface="Calibri"/>
              </a:rPr>
              <a:t>Suppression sécurisée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3087" y="4480560"/>
            <a:ext cx="46328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Confirmation avant suppression avec dialogue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Interface 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8CAE4"/>
                </a:solidFill>
                <a:latin typeface="Calibri"/>
              </a:rPr>
              <a:t>3 zones fonctionnelles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11094415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109728" cy="123444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5272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0096C7"/>
                </a:solidFill>
                <a:latin typeface="Calibri"/>
              </a:rPr>
              <a:t>Zone 1 — Recherche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18488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Calibri"/>
              </a:rPr>
              <a:t>Champ de filtrage en temps réel</a:t>
            </a:r>
          </a:p>
          <a:p>
            <a:r>
              <a:rPr sz="1200" b="0" i="0">
                <a:solidFill>
                  <a:srgbClr val="475569"/>
                </a:solidFill>
                <a:latin typeface="Calibri"/>
              </a:rPr>
              <a:t>sur type, désignation, emplacement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60320"/>
            <a:ext cx="11094415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109728" cy="12344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7004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1B3A5C"/>
                </a:solidFill>
                <a:latin typeface="Calibri"/>
              </a:rPr>
              <a:t>Zone 2 — Tableau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Calibri"/>
              </a:rPr>
              <a:t>JTable avec tri et colonnes :</a:t>
            </a:r>
          </a:p>
          <a:p>
            <a:r>
              <a:rPr sz="1200" b="0" i="0">
                <a:solidFill>
                  <a:srgbClr val="475569"/>
                </a:solidFill>
                <a:latin typeface="Calibri"/>
              </a:rPr>
              <a:t>ID · Type · Désignation · Emplacement · Qté · Diagnostic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40"/>
            <a:ext cx="11094415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977640"/>
            <a:ext cx="109728" cy="1234440"/>
          </a:xfrm>
          <a:prstGeom prst="rect">
            <a:avLst/>
          </a:prstGeom>
          <a:solidFill>
            <a:srgbClr val="060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8736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06098A"/>
                </a:solidFill>
                <a:latin typeface="Calibri"/>
              </a:rPr>
              <a:t>Zone 3 — Formulaire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53128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Calibri"/>
              </a:rPr>
              <a:t>Ajout de ressource avec champs</a:t>
            </a:r>
          </a:p>
          <a:p>
            <a:r>
              <a:rPr sz="1200" b="0" i="0">
                <a:solidFill>
                  <a:srgbClr val="475569"/>
                </a:solidFill>
                <a:latin typeface="Calibri"/>
              </a:rPr>
              <a:t>adaptatifs selon le type sélectionné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8335" y="1143000"/>
            <a:ext cx="3200400" cy="420624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5495" y="27432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4A3B8"/>
                </a:solidFill>
                <a:latin typeface="Calibri"/>
              </a:rPr>
              <a:t>[ Capture d'écran ]</a:t>
            </a:r>
          </a:p>
          <a:p>
            <a:pPr algn="ctr"/>
            <a:r>
              <a:rPr sz="1100" b="0" i="1">
                <a:solidFill>
                  <a:srgbClr val="94A3B8"/>
                </a:solidFill>
                <a:latin typeface="Calibri"/>
              </a:rPr>
              <a:t>Insérer ici une</a:t>
            </a:r>
            <a:br/>
            <a:r>
              <a:t>image de l'application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Structure du code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8CAE4"/>
                </a:solidFill>
                <a:latin typeface="Calibri"/>
              </a:rPr>
              <a:t>10 fichiers Java · ~1 200 lignes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97280"/>
            <a:ext cx="11094415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97280"/>
            <a:ext cx="91440" cy="74980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7043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D1B2A"/>
                </a:solidFill>
                <a:latin typeface="Calibri"/>
              </a:rPr>
              <a:t>com.glab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117043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E293B"/>
                </a:solidFill>
                <a:latin typeface="Calibri"/>
              </a:rPr>
              <a:t>GLabApp.java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8132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Point d'entrée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11094415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91440" cy="749808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391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096C7"/>
                </a:solidFill>
                <a:latin typeface="Calibri"/>
              </a:rPr>
              <a:t>com.glab.model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03911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E293B"/>
                </a:solidFill>
                <a:latin typeface="Calibri"/>
              </a:rPr>
              <a:t>4 classes POO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35000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Ressource (abstract) + 3 sous-classes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34640"/>
            <a:ext cx="11094415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34640"/>
            <a:ext cx="91440" cy="749808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9077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B3A5C"/>
                </a:solidFill>
                <a:latin typeface="Calibri"/>
              </a:rPr>
              <a:t>com.glab.controller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29077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E293B"/>
                </a:solidFill>
                <a:latin typeface="Calibri"/>
              </a:rPr>
              <a:t>RessourceController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2186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Validation · Ajout · Suppression · Filtrage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11094415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03320"/>
            <a:ext cx="91440" cy="749808"/>
          </a:xfrm>
          <a:prstGeom prst="rect">
            <a:avLst/>
          </a:prstGeom>
          <a:solidFill>
            <a:srgbClr val="060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77647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6098A"/>
                </a:solidFill>
                <a:latin typeface="Calibri"/>
              </a:rPr>
              <a:t>com.glab.database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377647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E293B"/>
                </a:solidFill>
                <a:latin typeface="Calibri"/>
              </a:rPr>
              <a:t>DatabaseManager · RessourceDAO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8736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Connexion SQLite · CRUD polymorphe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572000"/>
            <a:ext cx="11094415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572000"/>
            <a:ext cx="91440" cy="7498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64515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7C3AED"/>
                </a:solidFill>
                <a:latin typeface="Calibri"/>
              </a:rPr>
              <a:t>com.glab.view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464515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1E293B"/>
                </a:solidFill>
                <a:latin typeface="Calibri"/>
              </a:rPr>
              <a:t>FenetrePrincipale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5604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475569"/>
                </a:solidFill>
                <a:latin typeface="Calibri"/>
              </a:rPr>
              <a:t>Interface Swing complète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486400"/>
            <a:ext cx="11094415" cy="594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57784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48CAE4"/>
                </a:solidFill>
                <a:latin typeface="Calibri"/>
              </a:rPr>
              <a:t>$ mvn exec:java   ·   bash run.sh   ·   java -jar target/g-lab-1.0.0.jar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Persistance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8CAE4"/>
                </a:solidFill>
                <a:latin typeface="Calibri"/>
              </a:rPr>
              <a:t>JDBC · SQLite · Pattern DAO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4A3B8"/>
                </a:solidFill>
                <a:latin typeface="Calibri"/>
              </a:rPr>
              <a:t>Abdallah ATGUIRI  ·  G-Lab  ·  Juillet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Base SQLite locale glab_parc.db — créée automatiquement au premier lancement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Table unique ressources avec colonnes génériques pour les attributs spécifiques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PreparedStatement pour se protéger contre les injections SQL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Try-with-resources pour la fermeture automatique des connexions JDBC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Pattern DAO : RessourceDAO isole tout accès à la base de données</a:t>
            </a:r>
          </a:p>
          <a:p>
            <a:pPr>
              <a:spcAft>
                <a:spcPts val="1000"/>
              </a:spcAft>
            </a:pPr>
            <a:r>
              <a:rPr sz="1600" i="0" b="0">
                <a:solidFill>
                  <a:srgbClr val="475569"/>
                </a:solidFill>
                <a:latin typeface="Calibri"/>
              </a:rPr>
              <a:t>●  Reconstruction polymorphe des objets à la lecture via switch sur le type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2286000" cy="3657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48CAE4"/>
                </a:solidFill>
                <a:latin typeface="Calibri"/>
              </a:rPr>
              <a:t>✔   Application concrète des 4 piliers de la POO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48CAE4"/>
                </a:solidFill>
                <a:latin typeface="Calibri"/>
              </a:rPr>
              <a:t>✔   Architecture MVC maintenable et évolutive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48CAE4"/>
                </a:solidFill>
                <a:latin typeface="Calibri"/>
              </a:rPr>
              <a:t>✔   Persistance fiable via JDBC / SQLite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48CAE4"/>
                </a:solidFill>
                <a:latin typeface="Calibri"/>
              </a:rPr>
              <a:t>✔   Interface ergonomique avec formulaire adaptatif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480560"/>
            <a:ext cx="6400800" cy="109728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5720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59E0B"/>
                </a:solidFill>
                <a:latin typeface="Calibri"/>
              </a:rPr>
              <a:t>Perspectives</a:t>
            </a:r>
          </a:p>
          <a:p>
            <a:r>
              <a:rPr sz="1200" b="0" i="0">
                <a:solidFill>
                  <a:srgbClr val="94A3B8"/>
                </a:solidFill>
                <a:latin typeface="Calibri"/>
              </a:rPr>
              <a:t>Nouveaux types de ressources · Migration PostgreSQL · Interface web · Export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Merci pour votre attention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48CAE4"/>
                </a:solidFill>
                <a:latin typeface="Calibri"/>
              </a:rPr>
              <a:t>Abdallah ATGUIRI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94A3B8"/>
                </a:solidFill>
                <a:latin typeface="Calibri"/>
              </a:rP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